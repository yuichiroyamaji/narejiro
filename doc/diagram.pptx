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84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50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267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22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15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1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65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72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57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418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288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8044A-9E9A-4EDC-8548-E4462F1D8F2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DF82C-FAAC-4DDF-9594-6CB2072C4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62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/>
          <p:cNvSpPr/>
          <p:nvPr/>
        </p:nvSpPr>
        <p:spPr>
          <a:xfrm>
            <a:off x="1665638" y="1005542"/>
            <a:ext cx="10233090" cy="44834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04" y="4260293"/>
            <a:ext cx="744119" cy="66230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565" y="1997203"/>
            <a:ext cx="857523" cy="1077595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2091541" y="1465659"/>
            <a:ext cx="3818007" cy="3693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/>
          <p:cNvGrpSpPr/>
          <p:nvPr/>
        </p:nvGrpSpPr>
        <p:grpSpPr>
          <a:xfrm>
            <a:off x="711174" y="5685583"/>
            <a:ext cx="518160" cy="650240"/>
            <a:chOff x="769202" y="5140960"/>
            <a:chExt cx="518160" cy="650240"/>
          </a:xfrm>
        </p:grpSpPr>
        <p:sp>
          <p:nvSpPr>
            <p:cNvPr id="8" name="二等辺三角形 7"/>
            <p:cNvSpPr/>
            <p:nvPr/>
          </p:nvSpPr>
          <p:spPr>
            <a:xfrm>
              <a:off x="769202" y="5384800"/>
              <a:ext cx="518160" cy="4064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/>
            <p:cNvSpPr/>
            <p:nvPr/>
          </p:nvSpPr>
          <p:spPr>
            <a:xfrm>
              <a:off x="769202" y="5140960"/>
              <a:ext cx="500798" cy="467360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フローチャート: 直接アクセス記憶 10"/>
          <p:cNvSpPr/>
          <p:nvPr/>
        </p:nvSpPr>
        <p:spPr>
          <a:xfrm>
            <a:off x="2830188" y="2291391"/>
            <a:ext cx="1890077" cy="489218"/>
          </a:xfrm>
          <a:prstGeom prst="flowChartMagneticDrum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2793889" y="1958887"/>
            <a:ext cx="1890077" cy="31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accent5"/>
                </a:solidFill>
              </a:rPr>
              <a:t>CICD</a:t>
            </a:r>
            <a:r>
              <a:rPr lang="ja-JP" altLang="en-US" sz="1400" dirty="0">
                <a:solidFill>
                  <a:schemeClr val="accent5"/>
                </a:solidFill>
              </a:rPr>
              <a:t> </a:t>
            </a:r>
            <a:r>
              <a:rPr kumimoji="1" lang="en-US" altLang="ja-JP" sz="1400" dirty="0" smtClean="0">
                <a:solidFill>
                  <a:schemeClr val="accent5"/>
                </a:solidFill>
              </a:rPr>
              <a:t>pipeline</a:t>
            </a:r>
            <a:endParaRPr kumimoji="1" lang="ja-JP" altLang="en-US" sz="1400" dirty="0">
              <a:solidFill>
                <a:schemeClr val="accent5"/>
              </a:solidFill>
            </a:endParaRPr>
          </a:p>
        </p:txBody>
      </p:sp>
      <p:cxnSp>
        <p:nvCxnSpPr>
          <p:cNvPr id="14" name="直線矢印コネクタ 13"/>
          <p:cNvCxnSpPr>
            <a:stCxn id="3" idx="3"/>
            <a:endCxn id="6" idx="1"/>
          </p:cNvCxnSpPr>
          <p:nvPr/>
        </p:nvCxnSpPr>
        <p:spPr>
          <a:xfrm flipV="1">
            <a:off x="1362703" y="2536001"/>
            <a:ext cx="3393862" cy="19475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>
            <a:stCxn id="9" idx="0"/>
            <a:endCxn id="3" idx="2"/>
          </p:cNvCxnSpPr>
          <p:nvPr/>
        </p:nvCxnSpPr>
        <p:spPr>
          <a:xfrm flipH="1" flipV="1">
            <a:off x="937490" y="3072132"/>
            <a:ext cx="24083" cy="261345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図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800" y="2046314"/>
            <a:ext cx="1066816" cy="1018324"/>
          </a:xfrm>
          <a:prstGeom prst="rect">
            <a:avLst/>
          </a:prstGeom>
        </p:spPr>
      </p:pic>
      <p:pic>
        <p:nvPicPr>
          <p:cNvPr id="21" name="図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530" y="2077057"/>
            <a:ext cx="782938" cy="1135260"/>
          </a:xfrm>
          <a:prstGeom prst="rect">
            <a:avLst/>
          </a:prstGeom>
        </p:spPr>
      </p:pic>
      <p:sp>
        <p:nvSpPr>
          <p:cNvPr id="22" name="正方形/長方形 21"/>
          <p:cNvSpPr/>
          <p:nvPr/>
        </p:nvSpPr>
        <p:spPr>
          <a:xfrm>
            <a:off x="7257721" y="1465658"/>
            <a:ext cx="4323397" cy="3693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2742409" y="2617864"/>
            <a:ext cx="1890077" cy="31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rgbClr val="FF0000"/>
                </a:solidFill>
              </a:rPr>
              <a:t>deploy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137137" y="4838452"/>
            <a:ext cx="1280318" cy="344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 err="1">
                <a:solidFill>
                  <a:srgbClr val="FF0000"/>
                </a:solidFill>
              </a:rPr>
              <a:t>g</a:t>
            </a:r>
            <a:r>
              <a:rPr kumimoji="1" lang="en-US" altLang="ja-JP" sz="1400" dirty="0" err="1" smtClean="0">
                <a:solidFill>
                  <a:srgbClr val="FF0000"/>
                </a:solidFill>
              </a:rPr>
              <a:t>it</a:t>
            </a:r>
            <a:r>
              <a:rPr kumimoji="1" lang="en-US" altLang="ja-JP" sz="1400" dirty="0" smtClean="0">
                <a:solidFill>
                  <a:srgbClr val="FF0000"/>
                </a:solidFill>
              </a:rPr>
              <a:t> push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cxnSp>
        <p:nvCxnSpPr>
          <p:cNvPr id="39" name="直線矢印コネクタ 38"/>
          <p:cNvCxnSpPr/>
          <p:nvPr/>
        </p:nvCxnSpPr>
        <p:spPr>
          <a:xfrm>
            <a:off x="5614088" y="2485201"/>
            <a:ext cx="2254712" cy="19475"/>
          </a:xfrm>
          <a:prstGeom prst="straightConnector1">
            <a:avLst/>
          </a:prstGeom>
          <a:ln w="19050">
            <a:solidFill>
              <a:srgbClr val="00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/>
          <p:cNvCxnSpPr/>
          <p:nvPr/>
        </p:nvCxnSpPr>
        <p:spPr>
          <a:xfrm flipH="1" flipV="1">
            <a:off x="5614088" y="2631142"/>
            <a:ext cx="2254712" cy="19475"/>
          </a:xfrm>
          <a:prstGeom prst="straightConnector1">
            <a:avLst/>
          </a:prstGeom>
          <a:ln w="19050">
            <a:solidFill>
              <a:srgbClr val="00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/>
          <p:cNvSpPr/>
          <p:nvPr/>
        </p:nvSpPr>
        <p:spPr>
          <a:xfrm>
            <a:off x="5877681" y="2723324"/>
            <a:ext cx="1685579" cy="31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 smtClean="0">
                <a:solidFill>
                  <a:srgbClr val="00B050"/>
                </a:solidFill>
              </a:rPr>
              <a:t>API (</a:t>
            </a:r>
            <a:r>
              <a:rPr lang="en-US" altLang="ja-JP" sz="1400" dirty="0" err="1" smtClean="0">
                <a:solidFill>
                  <a:srgbClr val="00B050"/>
                </a:solidFill>
              </a:rPr>
              <a:t>GraphQL</a:t>
            </a:r>
            <a:r>
              <a:rPr lang="en-US" altLang="ja-JP" sz="1400" dirty="0" smtClean="0">
                <a:solidFill>
                  <a:srgbClr val="00B050"/>
                </a:solidFill>
              </a:rPr>
              <a:t>)</a:t>
            </a:r>
            <a:endParaRPr kumimoji="1" lang="ja-JP" altLang="en-US" sz="1400" dirty="0">
              <a:solidFill>
                <a:srgbClr val="00B050"/>
              </a:solidFill>
            </a:endParaRPr>
          </a:p>
        </p:txBody>
      </p:sp>
      <p:pic>
        <p:nvPicPr>
          <p:cNvPr id="50" name="図 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5638" y="1006722"/>
            <a:ext cx="438833" cy="388681"/>
          </a:xfrm>
          <a:prstGeom prst="rect">
            <a:avLst/>
          </a:prstGeom>
        </p:spPr>
      </p:pic>
      <p:sp>
        <p:nvSpPr>
          <p:cNvPr id="51" name="正方形/長方形 50"/>
          <p:cNvSpPr/>
          <p:nvPr/>
        </p:nvSpPr>
        <p:spPr>
          <a:xfrm>
            <a:off x="2104471" y="1458068"/>
            <a:ext cx="1129602" cy="2458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>
                <a:solidFill>
                  <a:schemeClr val="bg1"/>
                </a:solidFill>
              </a:rPr>
              <a:t>frontend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52" name="正方形/長方形 51"/>
          <p:cNvSpPr/>
          <p:nvPr/>
        </p:nvSpPr>
        <p:spPr>
          <a:xfrm>
            <a:off x="7257721" y="1477218"/>
            <a:ext cx="1129602" cy="2458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back</a:t>
            </a:r>
            <a:r>
              <a:rPr kumimoji="1" lang="en-US" altLang="ja-JP" sz="1400" dirty="0" smtClean="0">
                <a:solidFill>
                  <a:schemeClr val="bg1"/>
                </a:solidFill>
              </a:rPr>
              <a:t>end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cxnSp>
        <p:nvCxnSpPr>
          <p:cNvPr id="53" name="直線矢印コネクタ 52"/>
          <p:cNvCxnSpPr/>
          <p:nvPr/>
        </p:nvCxnSpPr>
        <p:spPr>
          <a:xfrm>
            <a:off x="9039571" y="2473861"/>
            <a:ext cx="1298041" cy="11340"/>
          </a:xfrm>
          <a:prstGeom prst="straightConnector1">
            <a:avLst/>
          </a:prstGeom>
          <a:ln w="19050">
            <a:solidFill>
              <a:srgbClr val="00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flipH="1" flipV="1">
            <a:off x="9039572" y="2617865"/>
            <a:ext cx="1298040" cy="13278"/>
          </a:xfrm>
          <a:prstGeom prst="straightConnector1">
            <a:avLst/>
          </a:prstGeom>
          <a:ln w="19050">
            <a:solidFill>
              <a:srgbClr val="00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楕円 59"/>
          <p:cNvSpPr/>
          <p:nvPr/>
        </p:nvSpPr>
        <p:spPr>
          <a:xfrm>
            <a:off x="4404349" y="3062240"/>
            <a:ext cx="1363884" cy="50464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React + </a:t>
            </a:r>
          </a:p>
          <a:p>
            <a:pPr algn="ctr"/>
            <a:r>
              <a:rPr lang="en-US" altLang="ja-JP" sz="1200" dirty="0" smtClean="0"/>
              <a:t>Typescript</a:t>
            </a:r>
            <a:endParaRPr kumimoji="1" lang="ja-JP" altLang="en-US" sz="1200" dirty="0"/>
          </a:p>
        </p:txBody>
      </p:sp>
      <p:sp>
        <p:nvSpPr>
          <p:cNvPr id="55" name="正方形/長方形 54"/>
          <p:cNvSpPr/>
          <p:nvPr/>
        </p:nvSpPr>
        <p:spPr>
          <a:xfrm>
            <a:off x="2304797" y="1849340"/>
            <a:ext cx="3472176" cy="307325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/>
          <p:cNvSpPr/>
          <p:nvPr/>
        </p:nvSpPr>
        <p:spPr>
          <a:xfrm>
            <a:off x="7529503" y="3135564"/>
            <a:ext cx="1363884" cy="50464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 smtClean="0"/>
              <a:t>GraphQL</a:t>
            </a:r>
            <a:endParaRPr kumimoji="1" lang="en-US" altLang="ja-JP" sz="1200" dirty="0" smtClean="0"/>
          </a:p>
          <a:p>
            <a:pPr algn="ctr"/>
            <a:r>
              <a:rPr lang="en-US" altLang="ja-JP" sz="1200" dirty="0" err="1" smtClean="0"/>
              <a:t>Javascript</a:t>
            </a:r>
            <a:endParaRPr kumimoji="1" lang="ja-JP" altLang="en-US" sz="1200" dirty="0"/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6565" y="3729157"/>
            <a:ext cx="842532" cy="1092789"/>
          </a:xfrm>
          <a:prstGeom prst="rect">
            <a:avLst/>
          </a:prstGeom>
        </p:spPr>
      </p:pic>
      <p:sp>
        <p:nvSpPr>
          <p:cNvPr id="17" name="角丸四角形吹き出し 16"/>
          <p:cNvSpPr/>
          <p:nvPr/>
        </p:nvSpPr>
        <p:spPr>
          <a:xfrm>
            <a:off x="4532089" y="1199055"/>
            <a:ext cx="1953899" cy="605282"/>
          </a:xfrm>
          <a:prstGeom prst="wedgeRoundRectCallout">
            <a:avLst>
              <a:gd name="adj1" fmla="val -15088"/>
              <a:gd name="adj2" fmla="val 91745"/>
              <a:gd name="adj3" fmla="val 16667"/>
            </a:avLst>
          </a:prstGeom>
          <a:solidFill>
            <a:schemeClr val="accent5">
              <a:alpha val="89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 smtClean="0"/>
              <a:t>静的</a:t>
            </a:r>
            <a:r>
              <a:rPr lang="en-US" altLang="ja-JP" sz="1200" dirty="0" smtClean="0"/>
              <a:t>Web</a:t>
            </a:r>
            <a:r>
              <a:rPr lang="ja-JP" altLang="en-US" sz="1200" dirty="0" smtClean="0"/>
              <a:t>サイトホスティングでフロント画面表示</a:t>
            </a:r>
            <a:endParaRPr kumimoji="1" lang="ja-JP" altLang="en-US" sz="1200" dirty="0"/>
          </a:p>
        </p:txBody>
      </p:sp>
      <p:sp>
        <p:nvSpPr>
          <p:cNvPr id="57" name="角丸四角形吹き出し 56"/>
          <p:cNvSpPr/>
          <p:nvPr/>
        </p:nvSpPr>
        <p:spPr>
          <a:xfrm>
            <a:off x="5740854" y="3660368"/>
            <a:ext cx="1272084" cy="991713"/>
          </a:xfrm>
          <a:prstGeom prst="wedgeRoundRectCallout">
            <a:avLst>
              <a:gd name="adj1" fmla="val -67948"/>
              <a:gd name="adj2" fmla="val -2059"/>
              <a:gd name="adj3" fmla="val 16667"/>
            </a:avLst>
          </a:prstGeom>
          <a:solidFill>
            <a:schemeClr val="accent5">
              <a:alpha val="89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 smtClean="0"/>
              <a:t>Cognito</a:t>
            </a:r>
            <a:r>
              <a:rPr kumimoji="1" lang="ja-JP" altLang="en-US" sz="1200" dirty="0" smtClean="0"/>
              <a:t>でユーザー認証（</a:t>
            </a:r>
            <a:r>
              <a:rPr kumimoji="1" lang="en-US" altLang="ja-JP" sz="1200" dirty="0" smtClean="0"/>
              <a:t>Amplify</a:t>
            </a:r>
            <a:r>
              <a:rPr kumimoji="1" lang="ja-JP" altLang="en-US" sz="1200" dirty="0" err="1" smtClean="0"/>
              <a:t>で組み込み</a:t>
            </a:r>
            <a:r>
              <a:rPr kumimoji="1" lang="ja-JP" altLang="en-US" sz="1200" dirty="0" smtClean="0"/>
              <a:t>）</a:t>
            </a:r>
            <a:endParaRPr kumimoji="1" lang="ja-JP" altLang="en-US" sz="1200" dirty="0"/>
          </a:p>
        </p:txBody>
      </p:sp>
      <p:sp>
        <p:nvSpPr>
          <p:cNvPr id="58" name="角丸四角形吹き出し 57"/>
          <p:cNvSpPr/>
          <p:nvPr/>
        </p:nvSpPr>
        <p:spPr>
          <a:xfrm>
            <a:off x="2553333" y="2976005"/>
            <a:ext cx="1361480" cy="542549"/>
          </a:xfrm>
          <a:prstGeom prst="wedgeRoundRectCallout">
            <a:avLst>
              <a:gd name="adj1" fmla="val 4674"/>
              <a:gd name="adj2" fmla="val -91139"/>
              <a:gd name="adj3" fmla="val 16667"/>
            </a:avLst>
          </a:prstGeom>
          <a:solidFill>
            <a:schemeClr val="accent5">
              <a:alpha val="89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AWS Amplify</a:t>
            </a:r>
            <a:r>
              <a:rPr kumimoji="1" lang="ja-JP" altLang="en-US" sz="1200" dirty="0" smtClean="0"/>
              <a:t>で</a:t>
            </a:r>
            <a:r>
              <a:rPr kumimoji="1" lang="en-US" altLang="ja-JP" sz="1200" dirty="0" smtClean="0"/>
              <a:t>CICD</a:t>
            </a:r>
            <a:r>
              <a:rPr kumimoji="1" lang="ja-JP" altLang="en-US" sz="1200" dirty="0" smtClean="0"/>
              <a:t>構築</a:t>
            </a:r>
            <a:endParaRPr kumimoji="1" lang="ja-JP" altLang="en-US" sz="1200" dirty="0"/>
          </a:p>
        </p:txBody>
      </p:sp>
      <p:sp>
        <p:nvSpPr>
          <p:cNvPr id="59" name="角丸四角形吹き出し 58"/>
          <p:cNvSpPr/>
          <p:nvPr/>
        </p:nvSpPr>
        <p:spPr>
          <a:xfrm>
            <a:off x="8524512" y="3832940"/>
            <a:ext cx="1021284" cy="534770"/>
          </a:xfrm>
          <a:prstGeom prst="wedgeRoundRectCallout">
            <a:avLst>
              <a:gd name="adj1" fmla="val -33243"/>
              <a:gd name="adj2" fmla="val -102278"/>
              <a:gd name="adj3" fmla="val 16667"/>
            </a:avLst>
          </a:prstGeom>
          <a:solidFill>
            <a:schemeClr val="accent5">
              <a:alpha val="89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 smtClean="0"/>
              <a:t>GraphQL</a:t>
            </a:r>
            <a:endParaRPr kumimoji="1" lang="en-US" altLang="ja-JP" sz="1200" dirty="0" smtClean="0"/>
          </a:p>
          <a:p>
            <a:pPr algn="ctr"/>
            <a:r>
              <a:rPr lang="ja-JP" altLang="en-US" sz="1200" dirty="0" smtClean="0"/>
              <a:t>で</a:t>
            </a:r>
            <a:r>
              <a:rPr lang="en-US" altLang="ja-JP" sz="1200" dirty="0" smtClean="0"/>
              <a:t>API</a:t>
            </a:r>
            <a:r>
              <a:rPr lang="ja-JP" altLang="en-US" sz="1200" dirty="0" smtClean="0"/>
              <a:t>実装</a:t>
            </a:r>
            <a:endParaRPr kumimoji="1" lang="ja-JP" altLang="en-US" sz="1200" dirty="0"/>
          </a:p>
        </p:txBody>
      </p:sp>
      <p:sp>
        <p:nvSpPr>
          <p:cNvPr id="70" name="角丸四角形吹き出し 69"/>
          <p:cNvSpPr/>
          <p:nvPr/>
        </p:nvSpPr>
        <p:spPr>
          <a:xfrm>
            <a:off x="9848731" y="3832940"/>
            <a:ext cx="1617683" cy="819141"/>
          </a:xfrm>
          <a:prstGeom prst="wedgeRoundRectCallout">
            <a:avLst>
              <a:gd name="adj1" fmla="val 4535"/>
              <a:gd name="adj2" fmla="val -119028"/>
              <a:gd name="adj3" fmla="val 16667"/>
            </a:avLst>
          </a:prstGeom>
          <a:solidFill>
            <a:schemeClr val="accent5">
              <a:alpha val="89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NoSQL</a:t>
            </a:r>
            <a:r>
              <a:rPr kumimoji="1" lang="ja-JP" altLang="en-US" sz="1200" dirty="0" smtClean="0"/>
              <a:t>（シングル</a:t>
            </a:r>
            <a:r>
              <a:rPr lang="ja-JP" altLang="en-US" sz="1200" dirty="0" smtClean="0"/>
              <a:t>テーブル）</a:t>
            </a:r>
            <a:r>
              <a:rPr kumimoji="1" lang="ja-JP" altLang="en-US" sz="1200" dirty="0" smtClean="0"/>
              <a:t>でのデータベース設計</a:t>
            </a:r>
            <a:endParaRPr kumimoji="1" lang="ja-JP" altLang="en-US" sz="1200" dirty="0"/>
          </a:p>
        </p:txBody>
      </p:sp>
      <p:sp>
        <p:nvSpPr>
          <p:cNvPr id="71" name="角丸四角形吹き出し 70"/>
          <p:cNvSpPr/>
          <p:nvPr/>
        </p:nvSpPr>
        <p:spPr>
          <a:xfrm>
            <a:off x="186954" y="1344798"/>
            <a:ext cx="904034" cy="542549"/>
          </a:xfrm>
          <a:prstGeom prst="wedgeRoundRectCallout">
            <a:avLst>
              <a:gd name="adj1" fmla="val 41698"/>
              <a:gd name="adj2" fmla="val 91117"/>
              <a:gd name="adj3" fmla="val 16667"/>
            </a:avLst>
          </a:prstGeom>
          <a:solidFill>
            <a:schemeClr val="accent5">
              <a:alpha val="89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 smtClean="0"/>
              <a:t>Git</a:t>
            </a:r>
            <a:r>
              <a:rPr kumimoji="1" lang="ja-JP" altLang="en-US" sz="1200" dirty="0" smtClean="0"/>
              <a:t>ソース管理</a:t>
            </a:r>
            <a:endParaRPr kumimoji="1" lang="ja-JP" altLang="en-US" sz="1200" dirty="0"/>
          </a:p>
        </p:txBody>
      </p:sp>
      <p:grpSp>
        <p:nvGrpSpPr>
          <p:cNvPr id="62" name="グループ化 61"/>
          <p:cNvGrpSpPr/>
          <p:nvPr/>
        </p:nvGrpSpPr>
        <p:grpSpPr>
          <a:xfrm>
            <a:off x="4948307" y="5695857"/>
            <a:ext cx="518160" cy="650240"/>
            <a:chOff x="769202" y="5140960"/>
            <a:chExt cx="518160" cy="650240"/>
          </a:xfrm>
          <a:solidFill>
            <a:schemeClr val="accent2"/>
          </a:solidFill>
        </p:grpSpPr>
        <p:sp>
          <p:nvSpPr>
            <p:cNvPr id="63" name="二等辺三角形 62"/>
            <p:cNvSpPr/>
            <p:nvPr/>
          </p:nvSpPr>
          <p:spPr>
            <a:xfrm>
              <a:off x="769202" y="5384800"/>
              <a:ext cx="518160" cy="40640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スマイル 63"/>
            <p:cNvSpPr/>
            <p:nvPr/>
          </p:nvSpPr>
          <p:spPr>
            <a:xfrm>
              <a:off x="769202" y="5140960"/>
              <a:ext cx="500798" cy="467360"/>
            </a:xfrm>
            <a:prstGeom prst="smileyFac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5" name="正方形/長方形 64"/>
          <p:cNvSpPr/>
          <p:nvPr/>
        </p:nvSpPr>
        <p:spPr>
          <a:xfrm>
            <a:off x="558627" y="6339156"/>
            <a:ext cx="890034" cy="238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 smtClean="0">
                <a:solidFill>
                  <a:srgbClr val="FF0000"/>
                </a:solidFill>
              </a:rPr>
              <a:t>開発者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66" name="正方形/長方形 65"/>
          <p:cNvSpPr/>
          <p:nvPr/>
        </p:nvSpPr>
        <p:spPr>
          <a:xfrm>
            <a:off x="4773510" y="6358486"/>
            <a:ext cx="1003463" cy="2429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 smtClean="0">
                <a:solidFill>
                  <a:srgbClr val="FF0000"/>
                </a:solidFill>
              </a:rPr>
              <a:t>ユーザー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cxnSp>
        <p:nvCxnSpPr>
          <p:cNvPr id="68" name="直線矢印コネクタ 67"/>
          <p:cNvCxnSpPr>
            <a:stCxn id="64" idx="0"/>
            <a:endCxn id="13" idx="2"/>
          </p:cNvCxnSpPr>
          <p:nvPr/>
        </p:nvCxnSpPr>
        <p:spPr>
          <a:xfrm flipH="1" flipV="1">
            <a:off x="5177831" y="4821946"/>
            <a:ext cx="20875" cy="87391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277" y="2038819"/>
            <a:ext cx="850426" cy="1033313"/>
          </a:xfrm>
          <a:prstGeom prst="rect">
            <a:avLst/>
          </a:prstGeom>
        </p:spPr>
      </p:pic>
      <p:sp>
        <p:nvSpPr>
          <p:cNvPr id="43" name="角丸四角形吹き出し 42"/>
          <p:cNvSpPr/>
          <p:nvPr/>
        </p:nvSpPr>
        <p:spPr>
          <a:xfrm>
            <a:off x="9253226" y="601033"/>
            <a:ext cx="2645502" cy="534770"/>
          </a:xfrm>
          <a:prstGeom prst="wedgeRoundRectCallout">
            <a:avLst>
              <a:gd name="adj1" fmla="val -61205"/>
              <a:gd name="adj2" fmla="val 41814"/>
              <a:gd name="adj3" fmla="val 16667"/>
            </a:avLst>
          </a:prstGeom>
          <a:solidFill>
            <a:srgbClr val="00B050">
              <a:alpha val="89000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/>
              <a:t>全体方針：サーバレス設計</a:t>
            </a:r>
            <a:endParaRPr kumimoji="1" lang="en-US" altLang="ja-JP" sz="1400" dirty="0" smtClean="0"/>
          </a:p>
        </p:txBody>
      </p:sp>
    </p:spTree>
    <p:extLst>
      <p:ext uri="{BB962C8B-B14F-4D97-AF65-F5344CB8AC3E}">
        <p14:creationId xmlns:p14="http://schemas.microsoft.com/office/powerpoint/2010/main" val="3641584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ワイド画面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>Amazon.com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山路 祐一郎</dc:creator>
  <cp:lastModifiedBy>山路 祐一郎</cp:lastModifiedBy>
  <cp:revision>20</cp:revision>
  <dcterms:created xsi:type="dcterms:W3CDTF">2023-12-28T01:00:22Z</dcterms:created>
  <dcterms:modified xsi:type="dcterms:W3CDTF">2025-04-12T00:25:31Z</dcterms:modified>
</cp:coreProperties>
</file>